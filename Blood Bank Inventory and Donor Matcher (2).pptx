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2192000" cy="6858000"/>
  <p:notesSz cx="6858000" cy="9144000"/>
  <p:embeddedFontLst>
    <p:embeddedFont>
      <p:font typeface="Fira Code" panose="020B0809050000020004" pitchFamily="49" charset="0"/>
      <p:regular r:id="rId17"/>
      <p:bold r:id="rId18"/>
      <p:italic r:id="rId19"/>
      <p:boldItalic r:id="rId20"/>
    </p:embeddedFont>
    <p:embeddedFont>
      <p:font typeface="Plus Jakarta Sans"/>
      <p:bold r:id="rId21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850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2.fntdata"/><Relationship Id="rId3" Type="http://schemas.openxmlformats.org/officeDocument/2006/relationships/slide" Target="slides/slide2.xml"/><Relationship Id="rId21" Type="http://schemas.openxmlformats.org/officeDocument/2006/relationships/font" Target="fonts/font5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1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4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3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034993-38EC-4E40-8960-8460985CBC63}" type="datetimeFigureOut">
              <a:rPr lang="en-IN" smtClean="0"/>
              <a:t>30-09-2026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A5D11-392E-4EF1-A78D-EB2D27F0BF7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02909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A5D11-392E-4EF1-A78D-EB2D27F0BF78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10743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D9A5D11-392E-4EF1-A78D-EB2D27F0BF78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75094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20.png"/><Relationship Id="rId7" Type="http://schemas.openxmlformats.org/officeDocument/2006/relationships/image" Target="../media/image17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15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1.png"/><Relationship Id="rId7" Type="http://schemas.openxmlformats.org/officeDocument/2006/relationships/image" Target="../media/image35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33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0.png"/><Relationship Id="rId4" Type="http://schemas.openxmlformats.org/officeDocument/2006/relationships/image" Target="../media/image3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42925" y="5514975"/>
            <a:ext cx="11106150" cy="914400"/>
          </a:xfrm>
          <a:prstGeom prst="roundRect">
            <a:avLst>
              <a:gd name="adj" fmla="val 12500"/>
            </a:avLst>
          </a:prstGeom>
          <a:solidFill>
            <a:srgbClr val="13192A"/>
          </a:solidFill>
          <a:ln w="9525">
            <a:solidFill>
              <a:srgbClr val="2227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9372600" y="442912"/>
            <a:ext cx="2276475" cy="276225"/>
          </a:xfrm>
          <a:prstGeom prst="roundRect">
            <a:avLst>
              <a:gd name="adj" fmla="val 50000"/>
            </a:avLst>
          </a:prstGeom>
          <a:solidFill>
            <a:srgbClr val="371A28"/>
          </a:solidFill>
          <a:ln w="9525">
            <a:solidFill>
              <a:srgbClr val="65242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4229100" y="5715000"/>
            <a:ext cx="9525" cy="51435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953375" y="5715000"/>
            <a:ext cx="9525" cy="514350"/>
          </a:xfrm>
          <a:prstGeom prst="rect">
            <a:avLst/>
          </a:prstGeom>
          <a:solidFill>
            <a:srgbClr val="FFFFFF">
              <a:alpha val="1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2925" y="428625"/>
            <a:ext cx="266700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525000" y="500062"/>
            <a:ext cx="20669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CA5A5"/>
                </a:solidFill>
                <a:latin typeface="Plus Jakarta Sans"/>
              </a:rPr>
              <a:t>DEPARTMENT OF FED | AY 2026-27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" y="2153691"/>
            <a:ext cx="11649075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87171"/>
                </a:solidFill>
                <a:latin typeface="Plus Jakarta Sans"/>
              </a:rPr>
              <a:t>PROBLEM SOLVING USING PROGRAMMING (JAVA) — CASE STUDY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2420391"/>
            <a:ext cx="9601200" cy="10075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sz="3450" b="1" i="0" u="none">
                <a:solidFill>
                  <a:srgbClr val="FFFFFF"/>
                </a:solidFill>
                <a:latin typeface="Plus Jakarta Sans"/>
              </a:rPr>
              <a:t>Blood Bank Inventory &amp; Donor Matcher System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" y="3580358"/>
            <a:ext cx="7715250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2025"/>
              </a:lnSpc>
            </a:pPr>
            <a:r>
              <a:rPr sz="1350" b="0" i="0" u="none">
                <a:solidFill>
                  <a:srgbClr val="CBD5E1"/>
                </a:solidFill>
                <a:latin typeface="Plus Jakarta Sans"/>
              </a:rPr>
              <a:t>Automated decision-support system for real-time inventory verification, donor compatibility evaluation, and emergency triage management.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925" y="471487"/>
            <a:ext cx="3440906" cy="2190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50" b="1" i="0" u="none">
                <a:solidFill>
                  <a:srgbClr val="F8FAFC"/>
                </a:solidFill>
                <a:latin typeface="Plus Jakarta Sans"/>
              </a:rPr>
              <a:t>KL DEEMED TO BE UNIVERSITY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2950" y="5715000"/>
            <a:ext cx="40719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Plus Jakarta Sans"/>
              </a:rPr>
              <a:t>STUDENT PRESENTER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2950" y="5895975"/>
            <a:ext cx="4071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S. VENKATA SAI PRANAV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42950" y="6076950"/>
            <a:ext cx="4071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Roll No: 2620080057 | Branch: AI &amp; 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67225" y="5715000"/>
            <a:ext cx="4071937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Plus Jakarta Sans"/>
              </a:rPr>
              <a:t>STUDENT PRESENTER 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7225" y="5895975"/>
            <a:ext cx="4071937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FFFFF"/>
                </a:solidFill>
                <a:latin typeface="Plus Jakarta Sans"/>
              </a:rPr>
              <a:t>D. SUSHAS VARMA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67225" y="6076950"/>
            <a:ext cx="4071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Roll No: 2620030393 | Branch: CSE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1500" y="5715000"/>
            <a:ext cx="4000500" cy="1238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825" b="1" i="0" u="none">
                <a:solidFill>
                  <a:srgbClr val="94A3B8"/>
                </a:solidFill>
                <a:latin typeface="Plus Jakarta Sans"/>
              </a:rPr>
              <a:t>FACULTY GUIDE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91500" y="5895975"/>
            <a:ext cx="4000500" cy="1809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5" b="1" i="0" u="none">
                <a:solidFill>
                  <a:srgbClr val="F87171"/>
                </a:solidFill>
                <a:latin typeface="Plus Jakarta Sans"/>
              </a:rPr>
              <a:t>Dr. Gopikrishna Vellaturi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91500" y="6076950"/>
            <a:ext cx="4000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0" i="0" u="none">
                <a:solidFill>
                  <a:srgbClr val="CBD5E1"/>
                </a:solidFill>
                <a:latin typeface="Plus Jakarta Sans"/>
              </a:rPr>
              <a:t>Department of FED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448925" y="545752"/>
            <a:ext cx="1200150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2784127"/>
            <a:ext cx="3587799" cy="1724025"/>
          </a:xfrm>
          <a:prstGeom prst="roundRect">
            <a:avLst>
              <a:gd name="adj" fmla="val 6629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2174" y="2884140"/>
            <a:ext cx="3587799" cy="15240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61424" y="2884140"/>
            <a:ext cx="3587799" cy="1524000"/>
          </a:xfrm>
          <a:prstGeom prst="roundRect">
            <a:avLst>
              <a:gd name="adj" fmla="val 750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4498627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2784127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2784127"/>
            <a:ext cx="38100" cy="172402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21199" y="2784127"/>
            <a:ext cx="9525" cy="17240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2174" y="4398615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2174" y="2884140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2174" y="2884140"/>
            <a:ext cx="38100" cy="1524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80449" y="2884140"/>
            <a:ext cx="9525" cy="1524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1424" y="4398615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1424" y="2884140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1424" y="2884140"/>
            <a:ext cx="38100" cy="15240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639698" y="2884140"/>
            <a:ext cx="9525" cy="15240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3027015"/>
            <a:ext cx="18097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9824" y="3127027"/>
            <a:ext cx="18097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09074" y="3127027"/>
            <a:ext cx="14287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582275" y="602902"/>
            <a:ext cx="1028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KLH / FED / JAVA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1375" y="6286500"/>
            <a:ext cx="933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2 of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428625"/>
            <a:ext cx="6965156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01. OVERVIEW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925" y="619125"/>
            <a:ext cx="7313414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System Introduction &amp; Healthcare Context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66800" y="3003202"/>
            <a:ext cx="3625118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Critical Emergency Need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90575" y="3288952"/>
            <a:ext cx="3216324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Blood availability directly impacts patient survival rates during major surgical procedures, trauma cases, and severe medical conditions. Rapid access to accurate blood stock records saves life-critical minutes.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6049" y="3103215"/>
            <a:ext cx="3625118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Inventory Verification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49824" y="3388965"/>
            <a:ext cx="3216324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Automated inventory validation cross-checks requested blood group types and required unit quantities instantly against available warehouse units to eliminate human delay.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47199" y="3103215"/>
            <a:ext cx="36448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Dynamic Donor Matching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309074" y="3388965"/>
            <a:ext cx="3216324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When primary blood reserves are depleted, the system instantly evaluates alternative voluntary donor registries, verifying biological compatibility and age eligibility criteria seamlessly.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100">
        <p:cut/>
      </p:transition>
    </mc:Choice>
    <mc:Fallback>
      <p:transition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44175" y="545752"/>
            <a:ext cx="1104900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2769840"/>
            <a:ext cx="3587799" cy="1752600"/>
          </a:xfrm>
          <a:prstGeom prst="roundRect">
            <a:avLst>
              <a:gd name="adj" fmla="val 65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2174" y="2769840"/>
            <a:ext cx="3587799" cy="1752600"/>
          </a:xfrm>
          <a:prstGeom prst="roundRect">
            <a:avLst>
              <a:gd name="adj" fmla="val 652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61424" y="2869852"/>
            <a:ext cx="3587799" cy="1552575"/>
          </a:xfrm>
          <a:prstGeom prst="roundRect">
            <a:avLst>
              <a:gd name="adj" fmla="val 7361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4512915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2769840"/>
            <a:ext cx="3587799" cy="3810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2769840"/>
            <a:ext cx="9525" cy="1752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21199" y="2769840"/>
            <a:ext cx="9525" cy="1752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2174" y="4512915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2174" y="2769840"/>
            <a:ext cx="3587799" cy="381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2174" y="2769840"/>
            <a:ext cx="9525" cy="1752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80449" y="2769840"/>
            <a:ext cx="9525" cy="175260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1424" y="4412902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1424" y="2869852"/>
            <a:ext cx="3587799" cy="3810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1424" y="2869852"/>
            <a:ext cx="9525" cy="1552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639698" y="2869852"/>
            <a:ext cx="9525" cy="1552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3041302"/>
            <a:ext cx="161925" cy="1619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49" y="3041302"/>
            <a:ext cx="161925" cy="1619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499" y="3141315"/>
            <a:ext cx="142875" cy="1619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677525" y="602902"/>
            <a:ext cx="9334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System Design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1375" y="6286500"/>
            <a:ext cx="933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3 of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428625"/>
            <a:ext cx="6977062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02. CORE GOALS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925" y="619125"/>
            <a:ext cx="732591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Project Objectives &amp; Targeted Deliverables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9175" y="3017490"/>
            <a:ext cx="3679887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Objective 1: Stock Control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2000" y="3303240"/>
            <a:ext cx="3244899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FFFFF"/>
                </a:solidFill>
                <a:latin typeface="Plus Jakarta Sans"/>
              </a:rPr>
              <a:t>Automated Inventory Management: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Maintain real-time accurate counts of available blood units across all ABO and Rh factor groups, ensuring instant verification during high-priority emergency requests.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778424" y="3017490"/>
            <a:ext cx="3679887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Objective 2: Compatibility Logic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21249" y="3303240"/>
            <a:ext cx="3244899" cy="10001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FFFFF"/>
                </a:solidFill>
                <a:latin typeface="Plus Jakarta Sans"/>
              </a:rPr>
              <a:t>Biological Donor Matching: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Implement robust conditional decision structures to validate donor compatibility (e.g., universal donor O- to O+ patients) whenever central stock falls short.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18624" y="3117502"/>
            <a:ext cx="3673375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Objective 3: Delay Mitigation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80499" y="3403252"/>
            <a:ext cx="32448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FFFFF"/>
                </a:solidFill>
                <a:latin typeface="Plus Jakarta Sans"/>
              </a:rPr>
              <a:t>Emergency Response Optimization:</a:t>
            </a:r>
            <a:r>
              <a:t>
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Eliminate manual paperwork bottlenecks by executing automated status evaluation, outputting precise actionable flags for clinicians instantly.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3900">
        <p14:glitter pattern="hexagon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420350" y="545752"/>
            <a:ext cx="1228725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2250727"/>
            <a:ext cx="5457825" cy="2790825"/>
          </a:xfrm>
          <a:prstGeom prst="roundRect">
            <a:avLst>
              <a:gd name="adj" fmla="val 4095"/>
            </a:avLst>
          </a:prstGeom>
          <a:solidFill>
            <a:srgbClr val="1E1215"/>
          </a:solidFill>
          <a:ln w="9525">
            <a:solidFill>
              <a:srgbClr val="7F1D1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6191250" y="2250727"/>
            <a:ext cx="5457825" cy="2790825"/>
          </a:xfrm>
          <a:prstGeom prst="roundRect">
            <a:avLst>
              <a:gd name="adj" fmla="val 4095"/>
            </a:avLst>
          </a:prstGeom>
          <a:solidFill>
            <a:srgbClr val="0F2318"/>
          </a:solidFill>
          <a:ln w="9525">
            <a:solidFill>
              <a:srgbClr val="1453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493615"/>
            <a:ext cx="161925" cy="161925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0325" y="2493615"/>
            <a:ext cx="161925" cy="16192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0553700" y="602902"/>
            <a:ext cx="10572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Problem Analysis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91850" y="6286500"/>
            <a:ext cx="9429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4 of 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428625"/>
            <a:ext cx="8227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03. COMPARATIVE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619125"/>
            <a:ext cx="8638579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Existing System Deficiencies &amp; Problem Statement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19175" y="2469802"/>
            <a:ext cx="6017418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CA5A5"/>
                </a:solidFill>
                <a:latin typeface="Plus Jakarta Sans"/>
              </a:rPr>
              <a:t>Legacy / Manual System Bottlenecks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67500" y="2469802"/>
            <a:ext cx="5524500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86EFAC"/>
                </a:solidFill>
                <a:latin typeface="Plus Jakarta Sans"/>
              </a:rPr>
              <a:t>System Analysis: Professional 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2000" y="2755552"/>
            <a:ext cx="5114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87171"/>
                </a:solidFill>
                <a:latin typeface="Plus Jakarta Sans"/>
              </a:rPr>
              <a:t>1. Manual Stock Logging: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2000" y="3488977"/>
            <a:ext cx="5114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87171"/>
                </a:solidFill>
                <a:latin typeface="Plus Jakarta Sans"/>
              </a:rPr>
              <a:t>2. Delayed Emergency Triage: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2000" y="4222402"/>
            <a:ext cx="5114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87171"/>
                </a:solidFill>
                <a:latin typeface="Plus Jakarta Sans"/>
              </a:rPr>
              <a:t>3. Human Eligibility Errors: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10325" y="2755552"/>
            <a:ext cx="5114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ADE80"/>
                </a:solidFill>
                <a:latin typeface="Plus Jakarta Sans"/>
              </a:rPr>
              <a:t>1. Operational Efficiency Deficit: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10325" y="3488977"/>
            <a:ext cx="5114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ADE80"/>
                </a:solidFill>
                <a:latin typeface="Plus Jakarta Sans"/>
              </a:rPr>
              <a:t>2. Scalability Limitation: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10325" y="4222402"/>
            <a:ext cx="5114925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4ADE80"/>
                </a:solidFill>
                <a:latin typeface="Plus Jakarta Sans"/>
              </a:rPr>
              <a:t>3. High Error Risk Profile: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2955577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Paper registers cause discrepancies between recorded units and actual physical inventory in storage freezers.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3689002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Searching through physical donor binders during emergency blood shortages severely delays life-saving transfusions.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2000" y="4422427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Manual evaluation of donor compatibility and age thresholds increases risk of medical mismatch or invalid donations.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410325" y="2955577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Existing workflows lack real-time synchronization, leading to communication gaps between blood banks and ICUs.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10325" y="3689002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Paper-based systems cannot scale to handle concurrent multi-patient requests during hospital surge periods.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10325" y="4422427"/>
            <a:ext cx="5114925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E2E8F0"/>
                </a:solidFill>
                <a:latin typeface="Plus Jakarta Sans"/>
              </a:rPr>
              <a:t>Without programmatically enforced rule-sets, decision-making relies strictly on human memory under high pressure.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829925" y="545752"/>
            <a:ext cx="819150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2303115"/>
            <a:ext cx="3587799" cy="2686050"/>
          </a:xfrm>
          <a:prstGeom prst="roundRect">
            <a:avLst>
              <a:gd name="adj" fmla="val 4255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2174" y="2403127"/>
            <a:ext cx="3587799" cy="2486025"/>
          </a:xfrm>
          <a:prstGeom prst="roundRect">
            <a:avLst>
              <a:gd name="adj" fmla="val 459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61424" y="2403127"/>
            <a:ext cx="3587799" cy="2486025"/>
          </a:xfrm>
          <a:prstGeom prst="roundRect">
            <a:avLst>
              <a:gd name="adj" fmla="val 459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522190"/>
            <a:ext cx="3149649" cy="1047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1249" y="2622202"/>
            <a:ext cx="3149649" cy="1047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499" y="2622202"/>
            <a:ext cx="3149649" cy="1047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522190"/>
            <a:ext cx="3149649" cy="1047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2000" y="3708052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249" y="2622202"/>
            <a:ext cx="3149649" cy="1047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21249" y="3808065"/>
            <a:ext cx="18097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499" y="2622202"/>
            <a:ext cx="3149649" cy="1047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280499" y="3808065"/>
            <a:ext cx="161925" cy="161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963275" y="602902"/>
            <a:ext cx="64770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Java 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1375" y="6286500"/>
            <a:ext cx="933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5 of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428625"/>
            <a:ext cx="76200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04. SOLUTION DESIGN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25" y="619125"/>
            <a:ext cx="8001000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Proposed Java System Architecture &amp; Features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3684240"/>
            <a:ext cx="3679887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Automated Stock Tracking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3969990"/>
            <a:ext cx="3244899" cy="8001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Dynamically tracks blood units across specific blood groups. Automatically determines stock adequacy before issuing release orders to patient wards.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97474" y="3784252"/>
            <a:ext cx="3660837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Rule-Based Donor Matcher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1249" y="4070002"/>
            <a:ext cx="32448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Evaluates donor compatibility using string case-insensitive matching (`equalsIgnoreCase`) and conditional logic if inventory is depleted.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37674" y="3784252"/>
            <a:ext cx="3654325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Instant Decision Dispatch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99" y="4070002"/>
            <a:ext cx="32448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CBD5E1"/>
                </a:solidFill>
                <a:latin typeface="Plus Jakarta Sans"/>
              </a:rPr>
              <a:t>Outputs clear actionable operational decisions ("Issue Blood", "Donor Required", or "Incompatible") to prevent clinical ambiguity.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10850" y="545752"/>
            <a:ext cx="1038225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542925" y="2544812"/>
            <a:ext cx="2095500" cy="485775"/>
          </a:xfrm>
          <a:prstGeom prst="roundRect">
            <a:avLst>
              <a:gd name="adj" fmla="val 15686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3019425" y="2554337"/>
            <a:ext cx="8629650" cy="466725"/>
          </a:xfrm>
          <a:prstGeom prst="roundRect">
            <a:avLst>
              <a:gd name="adj" fmla="val 16326"/>
            </a:avLst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2925" y="3182987"/>
            <a:ext cx="5457825" cy="1564481"/>
          </a:xfrm>
          <a:prstGeom prst="roundRect">
            <a:avLst>
              <a:gd name="adj" fmla="val 6088"/>
            </a:avLst>
          </a:prstGeom>
          <a:solidFill>
            <a:srgbClr val="0F2318"/>
          </a:solidFill>
          <a:ln w="9525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6191250" y="3182987"/>
            <a:ext cx="5457825" cy="1564481"/>
          </a:xfrm>
          <a:prstGeom prst="roundRect">
            <a:avLst>
              <a:gd name="adj" fmla="val 6088"/>
            </a:avLst>
          </a:prstGeom>
          <a:solidFill>
            <a:srgbClr val="2A1708"/>
          </a:solidFill>
          <a:ln w="9525">
            <a:solidFill>
              <a:srgbClr val="9A341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725" y="2701974"/>
            <a:ext cx="152400" cy="17145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0744200" y="602902"/>
            <a:ext cx="8667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Control Logic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01375" y="6286500"/>
            <a:ext cx="933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6 of 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2925" y="428625"/>
            <a:ext cx="8227218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05. TECHNICAL 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2925" y="619125"/>
            <a:ext cx="8638579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System Architecture &amp; Conditional Execution Flow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1487" y="2678162"/>
            <a:ext cx="2238375" cy="219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Patient Request Input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03859" y="2687687"/>
            <a:ext cx="10060781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200" b="1" i="0" u="none">
                <a:solidFill>
                  <a:srgbClr val="FFFFFF"/>
                </a:solidFill>
                <a:latin typeface="Plus Jakarta Sans"/>
              </a:rPr>
              <a:t>Blood Group Match Check (`equalsIgnoreCase`)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850" y="3344912"/>
            <a:ext cx="6417468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86EFAC"/>
                </a:solidFill>
                <a:latin typeface="Plus Jakarta Sans"/>
              </a:rPr>
              <a:t>BRANCH A: Direct Blood Group Match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850" y="3621137"/>
            <a:ext cx="5229225" cy="964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4ADE80"/>
                </a:solidFill>
                <a:latin typeface="Plus Jakarta Sans"/>
              </a:rPr>
              <a:t>If Available Units &gt;= Required Units:</a:t>
            </a:r>
            <a:r>
              <a:t>
</a:t>
            </a:r>
            <a:r>
              <a:rPr sz="1012" b="0" i="0" u="none">
                <a:solidFill>
                  <a:srgbClr val="CBD5E1"/>
                </a:solidFill>
                <a:latin typeface="Plus Jakarta Sans"/>
              </a:rPr>
              <a:t> ➔ Output: "Blood is available. Issue to patient."</a:t>
            </a:r>
            <a:r>
              <a:t>
</a:t>
            </a:r>
            <a:r>
              <a:rPr sz="1012" b="1" i="0" u="none">
                <a:solidFill>
                  <a:srgbClr val="F87171"/>
                </a:solidFill>
                <a:latin typeface="Plus Jakarta Sans"/>
              </a:rPr>
              <a:t>If Available Units &lt; Required Units:</a:t>
            </a:r>
            <a:r>
              <a:t>
</a:t>
            </a:r>
            <a:r>
              <a:rPr sz="1012" b="0" i="0" u="none">
                <a:solidFill>
                  <a:srgbClr val="CBD5E1"/>
                </a:solidFill>
                <a:latin typeface="Plus Jakarta Sans"/>
              </a:rPr>
              <a:t> ➔ Output: "Not enough units. Donor required."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53175" y="3344912"/>
            <a:ext cx="5838825" cy="2000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 u="none">
                <a:solidFill>
                  <a:srgbClr val="FDBA74"/>
                </a:solidFill>
                <a:latin typeface="Plus Jakarta Sans"/>
              </a:rPr>
              <a:t>BRANCH B: Group Mismatch / Cross-Match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53175" y="3621137"/>
            <a:ext cx="5229225" cy="9644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18"/>
              </a:lnSpc>
            </a:pPr>
            <a:r>
              <a:rPr sz="1012" b="1" i="0" u="none">
                <a:solidFill>
                  <a:srgbClr val="FB923C"/>
                </a:solidFill>
                <a:latin typeface="Plus Jakarta Sans"/>
              </a:rPr>
              <a:t>Check Universal Donor Rules (e.g. O- to O+):</a:t>
            </a:r>
            <a:r>
              <a:t>
</a:t>
            </a:r>
            <a:r>
              <a:rPr sz="1012" b="0" i="0" u="none">
                <a:solidFill>
                  <a:srgbClr val="CBD5E1"/>
                </a:solidFill>
                <a:latin typeface="Plus Jakarta Sans"/>
              </a:rPr>
              <a:t> ➔ Direct match fail, evaluate donor group compatibility.</a:t>
            </a:r>
            <a:r>
              <a:t>
</a:t>
            </a:r>
            <a:r>
              <a:rPr sz="1012" b="1" i="0" u="none">
                <a:solidFill>
                  <a:srgbClr val="CBD5E1"/>
                </a:solidFill>
                <a:latin typeface="Plus Jakarta Sans"/>
              </a:rPr>
              <a:t>If Donor Compatible:</a:t>
            </a:r>
            <a:r>
              <a:rPr sz="1012" b="0" i="0" u="none">
                <a:solidFill>
                  <a:srgbClr val="CBD5E1"/>
                </a:solidFill>
                <a:latin typeface="Plus Jakarta Sans"/>
              </a:rPr>
              <a:t> "Donor can donate."</a:t>
            </a:r>
            <a:r>
              <a:t>
</a:t>
            </a:r>
            <a:r>
              <a:rPr sz="1012" b="1" i="0" u="none">
                <a:solidFill>
                  <a:srgbClr val="CBD5E1"/>
                </a:solidFill>
                <a:latin typeface="Plus Jakarta Sans"/>
              </a:rPr>
              <a:t>If Incompatible:</a:t>
            </a:r>
            <a:r>
              <a:rPr sz="1012" b="0" i="0" u="none">
                <a:solidFill>
                  <a:srgbClr val="CBD5E1"/>
                </a:solidFill>
                <a:latin typeface="Plus Jakarta Sans"/>
              </a:rPr>
              <a:t> "Donor not compatible."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582275" y="545752"/>
            <a:ext cx="1066800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2403127"/>
            <a:ext cx="3587799" cy="2486025"/>
          </a:xfrm>
          <a:prstGeom prst="roundRect">
            <a:avLst>
              <a:gd name="adj" fmla="val 459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302174" y="2403127"/>
            <a:ext cx="3587799" cy="2486025"/>
          </a:xfrm>
          <a:prstGeom prst="roundRect">
            <a:avLst>
              <a:gd name="adj" fmla="val 459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61424" y="2403127"/>
            <a:ext cx="3587799" cy="2486025"/>
          </a:xfrm>
          <a:prstGeom prst="roundRect">
            <a:avLst>
              <a:gd name="adj" fmla="val 4597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622202"/>
            <a:ext cx="3149649" cy="1047750"/>
          </a:xfrm>
          <a:prstGeom prst="rect">
            <a:avLst/>
          </a:prstGeom>
        </p:spPr>
      </p:pic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21249" y="2622202"/>
            <a:ext cx="3149649" cy="1047750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499" y="2622202"/>
            <a:ext cx="3149649" cy="1047750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000" y="2622202"/>
            <a:ext cx="3149649" cy="104775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3808065"/>
            <a:ext cx="161925" cy="1619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21249" y="2622202"/>
            <a:ext cx="3149649" cy="1047750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1249" y="3808065"/>
            <a:ext cx="161925" cy="1619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80499" y="2622202"/>
            <a:ext cx="3149649" cy="104775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80499" y="3808065"/>
            <a:ext cx="180975" cy="1619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715625" y="602902"/>
            <a:ext cx="8953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System Specs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1375" y="6286500"/>
            <a:ext cx="933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7 of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428625"/>
            <a:ext cx="7989093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06. SYSTEM MODULE CAPABILITIES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25" y="619125"/>
            <a:ext cx="8388548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Core System Functionalities &amp; Operational Specs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9175" y="3784252"/>
            <a:ext cx="3679887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Stock Unit Audit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4070002"/>
            <a:ext cx="32448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FFFFF"/>
                </a:solidFill>
                <a:latin typeface="Plus Jakarta Sans"/>
              </a:rPr>
              <a:t>Key Info: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Maintains static inventory records, evaluating numerical unit sufficiency instantly without external database latency.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78424" y="3784252"/>
            <a:ext cx="3679887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Universal Compatibility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21249" y="4070002"/>
            <a:ext cx="32448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FFFFF"/>
                </a:solidFill>
                <a:latin typeface="Plus Jakarta Sans"/>
              </a:rPr>
              <a:t>Key Info: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Implements cross-matching logic (e.g., verifying O- universal donor status for O+ recipients during shortages).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56724" y="3784252"/>
            <a:ext cx="3635275" cy="209550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275" b="1" i="0" u="none">
                <a:solidFill>
                  <a:srgbClr val="FFFFFF"/>
                </a:solidFill>
                <a:latin typeface="Plus Jakarta Sans"/>
              </a:rPr>
              <a:t>Clinical Decision Guidance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80499" y="4070002"/>
            <a:ext cx="3244899" cy="6000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1" i="0" u="none">
                <a:solidFill>
                  <a:srgbClr val="FFFFFF"/>
                </a:solidFill>
                <a:latin typeface="Plus Jakarta Sans"/>
              </a:rPr>
              <a:t>Key Info:</a:t>
            </a:r>
            <a:r>
              <a:rPr sz="1050" b="0" i="0" u="none">
                <a:solidFill>
                  <a:srgbClr val="CBD5E1"/>
                </a:solidFill>
                <a:latin typeface="Plus Jakarta Sans"/>
              </a:rPr>
              <a:t> Directs medical personnel to proceed with immediate unit issuance or initiate urgent donor blood drive protocols.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900">
        <p14:warp dir="in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685800" y="1742033"/>
            <a:ext cx="11106150" cy="4728269"/>
          </a:xfrm>
          <a:prstGeom prst="roundRect">
            <a:avLst>
              <a:gd name="adj" fmla="val 2014"/>
            </a:avLst>
          </a:prstGeom>
          <a:solidFill>
            <a:srgbClr val="02061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706100" y="545752"/>
            <a:ext cx="942975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85800" y="1301864"/>
            <a:ext cx="10991850" cy="555613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public class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BloodBank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 {</a:t>
            </a:r>
          </a:p>
          <a:p>
            <a:pPr>
              <a:lnSpc>
                <a:spcPts val="1406"/>
              </a:lnSpc>
            </a:pPr>
            <a:endParaRPr lang="en-IN" sz="937" b="1" dirty="0">
              <a:solidFill>
                <a:srgbClr val="F43F5E"/>
              </a:solidFill>
              <a:latin typeface="Fira Code"/>
            </a:endParaRP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public static void main(String[]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args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) {</a:t>
            </a:r>
          </a:p>
          <a:p>
            <a:pPr>
              <a:lnSpc>
                <a:spcPts val="1406"/>
              </a:lnSpc>
            </a:pPr>
            <a:endParaRPr lang="en-IN" sz="937" b="1" dirty="0">
              <a:solidFill>
                <a:srgbClr val="F43F5E"/>
              </a:solidFill>
              <a:latin typeface="Fira Code"/>
            </a:endParaRP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// Patient 1: Direct Matching &amp; Adequate Stock Scenario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String patientGroup1 = "O+";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int requiredUnits1 = 2;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int availableUnits1 = 5;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String donorGroup1 = "O+";</a:t>
            </a:r>
          </a:p>
          <a:p>
            <a:pPr>
              <a:lnSpc>
                <a:spcPts val="1406"/>
              </a:lnSpc>
            </a:pPr>
            <a:endParaRPr lang="en-IN" sz="937" b="1" dirty="0">
              <a:solidFill>
                <a:srgbClr val="F43F5E"/>
              </a:solidFill>
              <a:latin typeface="Fira Code"/>
            </a:endParaRP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System.out.println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("----- Patient 1 -----");</a:t>
            </a:r>
          </a:p>
          <a:p>
            <a:pPr>
              <a:lnSpc>
                <a:spcPts val="1406"/>
              </a:lnSpc>
            </a:pPr>
            <a:endParaRPr lang="en-IN" sz="937" b="1" dirty="0">
              <a:solidFill>
                <a:srgbClr val="F43F5E"/>
              </a:solidFill>
              <a:latin typeface="Fira Code"/>
            </a:endParaRP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if (patientGroup1.equalsIgnoreCase(donorGroup1)) {</a:t>
            </a:r>
          </a:p>
          <a:p>
            <a:pPr>
              <a:lnSpc>
                <a:spcPts val="1406"/>
              </a:lnSpc>
            </a:pPr>
            <a:endParaRPr lang="en-IN" sz="937" b="1" dirty="0">
              <a:solidFill>
                <a:srgbClr val="F43F5E"/>
              </a:solidFill>
              <a:latin typeface="Fira Code"/>
            </a:endParaRP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if (availableUnits1 &gt;= requiredUnits1) {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   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System.out.println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("Blood is available.");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   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System.out.println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("Blood can be issued to the patient.");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} 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else {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   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System.out.println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("Blood group matches.");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   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System.out.println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("Not enough blood units available.");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   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System.out.println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("Donor is required.");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}</a:t>
            </a:r>
          </a:p>
          <a:p>
            <a:pPr>
              <a:lnSpc>
                <a:spcPts val="1406"/>
              </a:lnSpc>
            </a:pPr>
            <a:endParaRPr lang="en-IN" sz="937" b="1" dirty="0">
              <a:solidFill>
                <a:srgbClr val="F43F5E"/>
              </a:solidFill>
              <a:latin typeface="Fira Code"/>
            </a:endParaRP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} 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else {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// Cross-matching fallback branch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    </a:t>
            </a:r>
            <a:r>
              <a:rPr lang="en-IN" sz="937" b="1" dirty="0" err="1">
                <a:solidFill>
                  <a:srgbClr val="F43F5E"/>
                </a:solidFill>
                <a:latin typeface="Fira Code"/>
              </a:rPr>
              <a:t>System.out.println</a:t>
            </a:r>
            <a:r>
              <a:rPr lang="en-IN" sz="937" b="1" dirty="0">
                <a:solidFill>
                  <a:srgbClr val="F43F5E"/>
                </a:solidFill>
                <a:latin typeface="Fira Code"/>
              </a:rPr>
              <a:t>("Blood group does not match.");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    }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    }</a:t>
            </a:r>
          </a:p>
          <a:p>
            <a:pPr>
              <a:lnSpc>
                <a:spcPts val="1406"/>
              </a:lnSpc>
            </a:pPr>
            <a:r>
              <a:rPr lang="en-IN" sz="937" b="1" dirty="0">
                <a:solidFill>
                  <a:srgbClr val="F43F5E"/>
                </a:solidFill>
                <a:latin typeface="Fira Code"/>
              </a:rPr>
              <a:t>}</a:t>
            </a:r>
            <a:endParaRPr sz="937" b="1" i="0" u="none" dirty="0">
              <a:solidFill>
                <a:srgbClr val="F43F5E"/>
              </a:solidFill>
              <a:latin typeface="Fira Code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839450" y="602902"/>
            <a:ext cx="7715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Java 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91850" y="6286500"/>
            <a:ext cx="9429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8 of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2925" y="428625"/>
            <a:ext cx="819150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07. CODE IMPLEMENTATION (PART 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619125"/>
            <a:ext cx="860107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Java Source Code: Patient 1 Direct Allocation Logic</a:t>
            </a:r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1603398"/>
            <a:ext cx="11106150" cy="4728269"/>
          </a:xfrm>
          <a:prstGeom prst="roundRect">
            <a:avLst>
              <a:gd name="adj" fmla="val 2638"/>
            </a:avLst>
          </a:prstGeom>
          <a:solidFill>
            <a:srgbClr val="02061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</a:rPr>
              <a:t>// Patient 2: Stock Deficit Triggering Donor Requirement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String patientGroup2 = "O+";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int requiredUnits2 = 4;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int availableUnits2 = 2;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String donorGroup2 = "O+";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("\n----- Patient 2 -----");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if (patientGroup2.equalsIgnoreCase(donorGroup2)) {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if (availableUnits2 &gt;= requiredUnits2) {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("Blood is available.");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} else {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("Blood group matches.");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("Not enough blood units available.");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("Donor is required.");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}</a:t>
            </a:r>
          </a:p>
          <a:p>
            <a:pPr algn="ctr"/>
            <a:endParaRPr lang="en-IN" dirty="0">
              <a:solidFill>
                <a:schemeClr val="bg1"/>
              </a:solidFill>
            </a:endParaRPr>
          </a:p>
          <a:p>
            <a:pPr algn="ctr"/>
            <a:r>
              <a:rPr lang="en-IN" dirty="0">
                <a:solidFill>
                  <a:schemeClr val="bg1"/>
                </a:solidFill>
              </a:rPr>
              <a:t>} else {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    </a:t>
            </a:r>
            <a:r>
              <a:rPr lang="en-IN" dirty="0" err="1">
                <a:solidFill>
                  <a:schemeClr val="bg1"/>
                </a:solidFill>
              </a:rPr>
              <a:t>System.out.println</a:t>
            </a:r>
            <a:r>
              <a:rPr lang="en-IN" dirty="0">
                <a:solidFill>
                  <a:schemeClr val="bg1"/>
                </a:solidFill>
              </a:rPr>
              <a:t>("Blood group does not match.");</a:t>
            </a:r>
          </a:p>
          <a:p>
            <a:pPr algn="ctr"/>
            <a:r>
              <a:rPr lang="en-IN" dirty="0">
                <a:solidFill>
                  <a:schemeClr val="bg1"/>
                </a:solidFill>
              </a:rPr>
              <a:t>}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10086975" y="545752"/>
            <a:ext cx="1562100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0220325" y="602902"/>
            <a:ext cx="1390650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Java Control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1375" y="6286500"/>
            <a:ext cx="933450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9 of 14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583" y="144873"/>
            <a:ext cx="9024937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08. CODE IMPLEMENTATION (PART 2)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2925" y="619125"/>
            <a:ext cx="9476184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Java Source Code: Patient 2 &amp; Patient 3 Triage Scenarios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split orient="vert"/>
      </p:transition>
    </mc:Choice>
    <mc:Fallback>
      <p:transition spd="slow">
        <p:split orient="vert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477500" y="545752"/>
            <a:ext cx="1171575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1282005"/>
            <a:ext cx="6724650" cy="4728269"/>
          </a:xfrm>
          <a:prstGeom prst="roundRect">
            <a:avLst>
              <a:gd name="adj" fmla="val 2014"/>
            </a:avLst>
          </a:prstGeom>
          <a:solidFill>
            <a:srgbClr val="020617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7458075" y="2460277"/>
            <a:ext cx="4191000" cy="654843"/>
          </a:xfrm>
          <a:prstGeom prst="roundRect">
            <a:avLst>
              <a:gd name="adj" fmla="val 17454"/>
            </a:avLst>
          </a:prstGeom>
          <a:solidFill>
            <a:srgbClr val="0F23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7458075" y="3229421"/>
            <a:ext cx="4191000" cy="654843"/>
          </a:xfrm>
          <a:prstGeom prst="roundRect">
            <a:avLst>
              <a:gd name="adj" fmla="val 17454"/>
            </a:avLst>
          </a:prstGeom>
          <a:solidFill>
            <a:srgbClr val="2A210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7458075" y="3998565"/>
            <a:ext cx="4191000" cy="833437"/>
          </a:xfrm>
          <a:prstGeom prst="roundRect">
            <a:avLst>
              <a:gd name="adj" fmla="val 13714"/>
            </a:avLst>
          </a:prstGeom>
          <a:solidFill>
            <a:srgbClr val="0C24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7458075" y="3105596"/>
            <a:ext cx="4191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7458075" y="2460277"/>
            <a:ext cx="4191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7458075" y="2460277"/>
            <a:ext cx="38100" cy="654843"/>
          </a:xfrm>
          <a:prstGeom prst="rect">
            <a:avLst/>
          </a:prstGeom>
          <a:solidFill>
            <a:srgbClr val="22C55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11639550" y="2460277"/>
            <a:ext cx="9525" cy="654843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7458075" y="3874740"/>
            <a:ext cx="4191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7458075" y="3229421"/>
            <a:ext cx="4191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458075" y="3229421"/>
            <a:ext cx="38100" cy="654843"/>
          </a:xfrm>
          <a:prstGeom prst="rect">
            <a:avLst/>
          </a:prstGeom>
          <a:solidFill>
            <a:srgbClr val="EAB30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11639550" y="3229421"/>
            <a:ext cx="9525" cy="654843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7458075" y="4822477"/>
            <a:ext cx="4191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7458075" y="3998565"/>
            <a:ext cx="419100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7458075" y="3998565"/>
            <a:ext cx="38100" cy="833437"/>
          </a:xfrm>
          <a:prstGeom prst="rect">
            <a:avLst/>
          </a:prstGeom>
          <a:solidFill>
            <a:srgbClr val="06B6D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11639550" y="3998565"/>
            <a:ext cx="9525" cy="833437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610850" y="602902"/>
            <a:ext cx="10001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Terminal Output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934700" y="6286500"/>
            <a:ext cx="10001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10 of 14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428625"/>
            <a:ext cx="7203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09. EXECUTION LOGS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2925" y="619125"/>
            <a:ext cx="756344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Program Output Console Execution Window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2000" y="2192535"/>
            <a:ext cx="7858125" cy="15716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237"/>
              </a:lnSpc>
            </a:pPr>
            <a:r>
              <a:rPr sz="825" b="0" i="0" u="none">
                <a:solidFill>
                  <a:srgbClr val="64748B"/>
                </a:solidFill>
                <a:latin typeface="Fira Code"/>
              </a:rPr>
              <a:t>[CONSOLE OUTPUT STREAM - BloodBank.java]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62000" y="2425898"/>
            <a:ext cx="6381750" cy="3471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---- Patient 1 -----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Blood is available.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Blood can be issued to the patient.</a:t>
            </a:r>
          </a:p>
          <a:p>
            <a:pPr>
              <a:lnSpc>
                <a:spcPts val="1620"/>
              </a:lnSpc>
            </a:pPr>
            <a:endParaRPr lang="en-US" sz="1012" dirty="0">
              <a:solidFill>
                <a:srgbClr val="38BDF8"/>
              </a:solidFill>
              <a:latin typeface="monospace"/>
            </a:endParaRP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----- Patient 2 -----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Blood group matches.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Not enough blood units available.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Donor is required.</a:t>
            </a:r>
          </a:p>
          <a:p>
            <a:pPr>
              <a:lnSpc>
                <a:spcPts val="1620"/>
              </a:lnSpc>
            </a:pPr>
            <a:endParaRPr lang="en-US" sz="1012" dirty="0">
              <a:solidFill>
                <a:srgbClr val="38BDF8"/>
              </a:solidFill>
              <a:latin typeface="monospace"/>
            </a:endParaRP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----- Patient 3 -----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Blood is not available in inventory.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Donor is compatible.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Donor can donate blood.</a:t>
            </a:r>
          </a:p>
          <a:p>
            <a:pPr>
              <a:lnSpc>
                <a:spcPts val="1620"/>
              </a:lnSpc>
            </a:pPr>
            <a:endParaRPr lang="en-US" sz="1012" dirty="0">
              <a:solidFill>
                <a:srgbClr val="38BDF8"/>
              </a:solidFill>
              <a:latin typeface="monospace"/>
            </a:endParaRP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========================================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          PROCESS COMPLETED</a:t>
            </a:r>
          </a:p>
          <a:p>
            <a:pPr>
              <a:lnSpc>
                <a:spcPts val="1620"/>
              </a:lnSpc>
            </a:pPr>
            <a:r>
              <a:rPr lang="en-US" sz="1012" dirty="0">
                <a:solidFill>
                  <a:srgbClr val="38BDF8"/>
                </a:solidFill>
                <a:latin typeface="monospace"/>
              </a:rPr>
              <a:t>========================================</a:t>
            </a:r>
            <a:endParaRPr sz="1012" b="0" i="0" u="none" dirty="0">
              <a:solidFill>
                <a:srgbClr val="38BDF8"/>
              </a:solidFill>
              <a:latin typeface="monospace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7648575" y="2622202"/>
            <a:ext cx="4543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86EFAC"/>
                </a:solidFill>
                <a:latin typeface="Plus Jakarta Sans"/>
              </a:rPr>
              <a:t>Patient 1 Evaluation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648575" y="2774602"/>
            <a:ext cx="4543425" cy="1785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CBD5E1"/>
                </a:solidFill>
                <a:latin typeface="Plus Jakarta Sans"/>
              </a:rPr>
              <a:t>Sufficient inventory (5 ≥ 2 units). Instant blood release approved.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648575" y="3391346"/>
            <a:ext cx="4543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DE047"/>
                </a:solidFill>
                <a:latin typeface="Plus Jakarta Sans"/>
              </a:rPr>
              <a:t>Patient 2 Evaluation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648575" y="3543746"/>
            <a:ext cx="4543425" cy="17859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CBD5E1"/>
                </a:solidFill>
                <a:latin typeface="Plus Jakarta Sans"/>
              </a:rPr>
              <a:t>Stock deficit (2 &lt; 4 units required). Triggers targeted donor request.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648575" y="4160490"/>
            <a:ext cx="454342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67E8F9"/>
                </a:solidFill>
                <a:latin typeface="Plus Jakarta Sans"/>
              </a:rPr>
              <a:t>Patient 3 Evaluation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648575" y="4312890"/>
            <a:ext cx="3933825" cy="35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406"/>
              </a:lnSpc>
            </a:pPr>
            <a:r>
              <a:rPr sz="937" b="0" i="0" u="none">
                <a:solidFill>
                  <a:srgbClr val="CBD5E1"/>
                </a:solidFill>
                <a:latin typeface="Plus Jakarta Sans"/>
              </a:rPr>
              <a:t>Zero stock. Compatibility logic verifies O- donor suitability for O+ patient.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668000" y="545752"/>
            <a:ext cx="981075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2607915"/>
            <a:ext cx="2662237" cy="2076450"/>
          </a:xfrm>
          <a:prstGeom prst="roundRect">
            <a:avLst>
              <a:gd name="adj" fmla="val 550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3357562" y="2607915"/>
            <a:ext cx="2662237" cy="2076450"/>
          </a:xfrm>
          <a:prstGeom prst="roundRect">
            <a:avLst>
              <a:gd name="adj" fmla="val 550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6172200" y="2607915"/>
            <a:ext cx="2662237" cy="2076450"/>
          </a:xfrm>
          <a:prstGeom prst="roundRect">
            <a:avLst>
              <a:gd name="adj" fmla="val 550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8986837" y="2607915"/>
            <a:ext cx="2662237" cy="2076450"/>
          </a:xfrm>
          <a:prstGeom prst="roundRect">
            <a:avLst>
              <a:gd name="adj" fmla="val 5504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000" y="2826990"/>
            <a:ext cx="2224087" cy="809625"/>
          </a:xfrm>
          <a:prstGeom prst="rect">
            <a:avLst/>
          </a:prstGeom>
        </p:spPr>
      </p:pic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76637" y="2826990"/>
            <a:ext cx="2224087" cy="809625"/>
          </a:xfrm>
          <a:prstGeom prst="rect">
            <a:avLst/>
          </a:prstGeom>
        </p:spPr>
      </p:pic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1275" y="2826990"/>
            <a:ext cx="2224087" cy="8096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05912" y="2826990"/>
            <a:ext cx="2224087" cy="8096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2000" y="2826990"/>
            <a:ext cx="2224087" cy="8096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76637" y="2826990"/>
            <a:ext cx="2224087" cy="8096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1275" y="2826990"/>
            <a:ext cx="2224087" cy="8096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205912" y="2826990"/>
            <a:ext cx="2224087" cy="809625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10801350" y="602902"/>
            <a:ext cx="8096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Case Results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0" y="6286500"/>
            <a:ext cx="96202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11 of 14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2925" y="428625"/>
            <a:ext cx="7524750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10. ANALYTICAL SYNTHESIS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2925" y="619125"/>
            <a:ext cx="7900987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Output Analysis Across Professional Scenarios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2000" y="3750915"/>
            <a:ext cx="278010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FFFFF"/>
                </a:solidFill>
                <a:latin typeface="Plus Jakarta Sans"/>
              </a:rPr>
              <a:t>Scenario 1: Full Stock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2000" y="3950940"/>
            <a:ext cx="23193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BD5E1"/>
                </a:solidFill>
                <a:latin typeface="Plus Jakarta Sans"/>
              </a:rPr>
              <a:t>Direct allocation succeeds immediately when inventory meets or exceeds patient requirement thresholds.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76637" y="3750915"/>
            <a:ext cx="278010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FFFFF"/>
                </a:solidFill>
                <a:latin typeface="Plus Jakarta Sans"/>
              </a:rPr>
              <a:t>Scenario 2: Unit Deficit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76637" y="3950940"/>
            <a:ext cx="23193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BD5E1"/>
                </a:solidFill>
                <a:latin typeface="Plus Jakarta Sans"/>
              </a:rPr>
              <a:t>Prevents partial issuing hazards by flagging stock shortages and requesting dynamic replacement donors.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391275" y="3750915"/>
            <a:ext cx="278010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FFFFF"/>
                </a:solidFill>
                <a:latin typeface="Plus Jakarta Sans"/>
              </a:rPr>
              <a:t>Scenario 3: Zero Stock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391275" y="3950940"/>
            <a:ext cx="23193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BD5E1"/>
                </a:solidFill>
                <a:latin typeface="Plus Jakarta Sans"/>
              </a:rPr>
              <a:t>Evaluates cross-compatibility (O- universal donor) to secure alternative donation when primary stock is 0.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05912" y="3750915"/>
            <a:ext cx="2780109" cy="1619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12" b="1" i="0" u="none">
                <a:solidFill>
                  <a:srgbClr val="FFFFFF"/>
                </a:solidFill>
                <a:latin typeface="Plus Jakarta Sans"/>
              </a:rPr>
              <a:t>Scenario 4: Rule Engine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05912" y="3950940"/>
            <a:ext cx="2319337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350"/>
              </a:lnSpc>
            </a:pPr>
            <a:r>
              <a:rPr sz="900" b="0" i="0" u="none">
                <a:solidFill>
                  <a:srgbClr val="CBD5E1"/>
                </a:solidFill>
                <a:latin typeface="Plus Jakarta Sans"/>
              </a:rPr>
              <a:t>Systematically rejects incompatible blood types, protecting patient safety against clinical mismatch errors.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>
        <p14:prism isContent="1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210800" y="545752"/>
            <a:ext cx="1438275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2376487"/>
            <a:ext cx="3613100" cy="1202977"/>
          </a:xfrm>
          <a:prstGeom prst="roundRect">
            <a:avLst>
              <a:gd name="adj" fmla="val 950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ounded Rectangle 4"/>
          <p:cNvSpPr/>
          <p:nvPr/>
        </p:nvSpPr>
        <p:spPr>
          <a:xfrm>
            <a:off x="4289375" y="2376487"/>
            <a:ext cx="3613100" cy="1202977"/>
          </a:xfrm>
          <a:prstGeom prst="roundRect">
            <a:avLst>
              <a:gd name="adj" fmla="val 950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35825" y="2376487"/>
            <a:ext cx="3613249" cy="1202977"/>
          </a:xfrm>
          <a:prstGeom prst="roundRect">
            <a:avLst>
              <a:gd name="adj" fmla="val 950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542925" y="3712815"/>
            <a:ext cx="3613100" cy="1202977"/>
          </a:xfrm>
          <a:prstGeom prst="roundRect">
            <a:avLst>
              <a:gd name="adj" fmla="val 950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ounded Rectangle 7"/>
          <p:cNvSpPr/>
          <p:nvPr/>
        </p:nvSpPr>
        <p:spPr>
          <a:xfrm>
            <a:off x="4289375" y="3712815"/>
            <a:ext cx="3613100" cy="1202977"/>
          </a:xfrm>
          <a:prstGeom prst="roundRect">
            <a:avLst>
              <a:gd name="adj" fmla="val 950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ounded Rectangle 8"/>
          <p:cNvSpPr/>
          <p:nvPr/>
        </p:nvSpPr>
        <p:spPr>
          <a:xfrm>
            <a:off x="8035825" y="3712815"/>
            <a:ext cx="3613249" cy="1202977"/>
          </a:xfrm>
          <a:prstGeom prst="roundRect">
            <a:avLst>
              <a:gd name="adj" fmla="val 9501"/>
            </a:avLst>
          </a:prstGeom>
          <a:solidFill>
            <a:srgbClr val="0F172A"/>
          </a:solidFill>
          <a:ln w="9525">
            <a:solidFill>
              <a:srgbClr val="1E293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2500312"/>
            <a:ext cx="3365450" cy="619125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00" y="2500312"/>
            <a:ext cx="3365450" cy="619125"/>
          </a:xfrm>
          <a:prstGeom prst="rect">
            <a:avLst/>
          </a:prstGeom>
        </p:spPr>
      </p:pic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650" y="2500312"/>
            <a:ext cx="3365599" cy="61912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750" y="3836640"/>
            <a:ext cx="3365450" cy="61912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13200" y="3836640"/>
            <a:ext cx="3365450" cy="61912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59650" y="3836640"/>
            <a:ext cx="3365599" cy="61912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750" y="2500312"/>
            <a:ext cx="3365450" cy="619125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13200" y="2500312"/>
            <a:ext cx="3365450" cy="619125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59650" y="2500312"/>
            <a:ext cx="3365599" cy="619125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6750" y="3836640"/>
            <a:ext cx="3365450" cy="619125"/>
          </a:xfrm>
          <a:prstGeom prst="rect">
            <a:avLst/>
          </a:prstGeom>
        </p:spPr>
      </p:pic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413200" y="3836640"/>
            <a:ext cx="3365450" cy="61912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159650" y="3836640"/>
            <a:ext cx="3365599" cy="619125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10344150" y="602902"/>
            <a:ext cx="126682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Innovation Roadmap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53750" y="6286500"/>
            <a:ext cx="9810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12 of 14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2925" y="428625"/>
            <a:ext cx="9870281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11. ROADMAP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2925" y="619125"/>
            <a:ext cx="10363795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Future Scope &amp; Technological Enhancements (6 Focus Areas)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6750" y="3176587"/>
            <a:ext cx="4206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1. SQL Database 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6750" y="3319462"/>
            <a:ext cx="4206812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CBD5E1"/>
                </a:solidFill>
                <a:latin typeface="Plus Jakarta Sans"/>
              </a:rPr>
              <a:t>Replace static variables with MySQL/PostgreSQL persistence.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413200" y="3176587"/>
            <a:ext cx="4206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2. JavaFX / Web GUI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13200" y="3319462"/>
            <a:ext cx="4206812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CBD5E1"/>
                </a:solidFill>
                <a:latin typeface="Plus Jakarta Sans"/>
              </a:rPr>
              <a:t>Develop interactive visual dashboard for blood bank operators.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9650" y="3176587"/>
            <a:ext cx="40323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3. Automated SMS Alerts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159650" y="3319462"/>
            <a:ext cx="4032349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CBD5E1"/>
                </a:solidFill>
                <a:latin typeface="Plus Jakarta Sans"/>
              </a:rPr>
              <a:t>Broadcast instant emergency SMS to registered donors on deficit.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6750" y="4512915"/>
            <a:ext cx="4206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4. AI Demand Forecasting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6750" y="4655790"/>
            <a:ext cx="4206812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CBD5E1"/>
                </a:solidFill>
                <a:latin typeface="Plus Jakarta Sans"/>
              </a:rPr>
              <a:t>Predict seasonal demand spikes using machine learning models.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413200" y="4512915"/>
            <a:ext cx="4206812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5. Geo-Location Match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13200" y="4655790"/>
            <a:ext cx="4206812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CBD5E1"/>
                </a:solidFill>
                <a:latin typeface="Plus Jakarta Sans"/>
              </a:rPr>
              <a:t>Locate nearest eligible donor using GPS spatial proximity.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159650" y="4512915"/>
            <a:ext cx="4032349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FFFFF"/>
                </a:solidFill>
                <a:latin typeface="Plus Jakarta Sans"/>
              </a:rPr>
              <a:t>6. Expiration Tracking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59650" y="4655790"/>
            <a:ext cx="4032349" cy="13617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1072"/>
              </a:lnSpc>
            </a:pPr>
            <a:r>
              <a:rPr sz="825" b="0" i="0" u="none">
                <a:solidFill>
                  <a:srgbClr val="CBD5E1"/>
                </a:solidFill>
                <a:latin typeface="Plus Jakarta Sans"/>
              </a:rPr>
              <a:t>Monitor component shelf-life to minimize blood wastage.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5081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542925" y="6162675"/>
            <a:ext cx="11106150" cy="26670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ounded Rectangle 2"/>
          <p:cNvSpPr/>
          <p:nvPr/>
        </p:nvSpPr>
        <p:spPr>
          <a:xfrm>
            <a:off x="10344150" y="545752"/>
            <a:ext cx="1304925" cy="276225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542925" y="2298352"/>
            <a:ext cx="3587799" cy="2695575"/>
          </a:xfrm>
          <a:prstGeom prst="roundRect">
            <a:avLst>
              <a:gd name="adj" fmla="val 424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ounded Rectangle 5"/>
          <p:cNvSpPr/>
          <p:nvPr/>
        </p:nvSpPr>
        <p:spPr>
          <a:xfrm>
            <a:off x="8061424" y="2398365"/>
            <a:ext cx="3587799" cy="2495550"/>
          </a:xfrm>
          <a:prstGeom prst="roundRect">
            <a:avLst>
              <a:gd name="adj" fmla="val 4580"/>
            </a:avLst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42925" y="6162675"/>
            <a:ext cx="11106150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42925" y="4984402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42925" y="2298352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42925" y="2298352"/>
            <a:ext cx="38100" cy="2695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4121199" y="2298352"/>
            <a:ext cx="9525" cy="2695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302174" y="4984402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02174" y="2298352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4302174" y="2298352"/>
            <a:ext cx="38100" cy="2695575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7880449" y="2298352"/>
            <a:ext cx="9525" cy="269557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61424" y="4884390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8061424" y="2398365"/>
            <a:ext cx="3587799" cy="9525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61424" y="2398365"/>
            <a:ext cx="38100" cy="2495550"/>
          </a:xfrm>
          <a:prstGeom prst="rect">
            <a:avLst/>
          </a:prstGeom>
          <a:solidFill>
            <a:srgbClr val="EF444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11639698" y="2398365"/>
            <a:ext cx="9525" cy="2495550"/>
          </a:xfrm>
          <a:prstGeom prst="rect">
            <a:avLst/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2517427"/>
            <a:ext cx="3121074" cy="1047750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flipH="1">
            <a:off x="800100" y="2531714"/>
            <a:ext cx="163886" cy="185738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V="1">
            <a:off x="4440286" y="2531714"/>
            <a:ext cx="142875" cy="16192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99561" y="2643620"/>
            <a:ext cx="180975" cy="161925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10477500" y="602902"/>
            <a:ext cx="1133475" cy="1619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94A3B8"/>
                </a:solidFill>
                <a:latin typeface="Plus Jakarta Sans"/>
              </a:rPr>
              <a:t>Course Outcome II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2925" y="6286500"/>
            <a:ext cx="2631281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Blood Bank Inventory &amp; Donor Matcher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53750" y="6286500"/>
            <a:ext cx="981075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64748B"/>
                </a:solidFill>
                <a:latin typeface="Plus Jakarta Sans"/>
              </a:rPr>
              <a:t>Slide 13 of 14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2925" y="428625"/>
            <a:ext cx="8905875" cy="1524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75" b="1" i="0" u="none">
                <a:solidFill>
                  <a:srgbClr val="F87171"/>
                </a:solidFill>
                <a:latin typeface="Plus Jakarta Sans"/>
              </a:rPr>
              <a:t>12. ACADEMIC FUNDAMENTALS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2925" y="619125"/>
            <a:ext cx="9351168" cy="3199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>
              <a:lnSpc>
                <a:spcPts val="2520"/>
              </a:lnSpc>
            </a:pPr>
            <a:r>
              <a:rPr sz="2100" b="1" i="0" u="none">
                <a:solidFill>
                  <a:srgbClr val="FFFFFF"/>
                </a:solidFill>
                <a:latin typeface="Plus Jakarta Sans"/>
              </a:rPr>
              <a:t>Key Java Concepts &amp; Programming Constructs Applied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28700" y="2495646"/>
            <a:ext cx="1940403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 u="none" dirty="0">
                <a:solidFill>
                  <a:srgbClr val="FFFFFF"/>
                </a:solidFill>
                <a:latin typeface="Plus Jakarta Sans"/>
              </a:rPr>
              <a:t>Nested Conditional Blocks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725" y="3326143"/>
            <a:ext cx="3216324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Utilizes multi-level if-else control flow structures to evaluate primary blood matches first, branching into quantitative stock checks and donor cross-match rules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58540" y="2469330"/>
            <a:ext cx="4082318" cy="1962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275" b="1" i="0" u="none" dirty="0">
                <a:solidFill>
                  <a:srgbClr val="FFFFFF"/>
                </a:solidFill>
                <a:latin typeface="Plus Jakarta Sans"/>
              </a:rPr>
              <a:t>String Case Sensitivity Handling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658540" y="3205261"/>
            <a:ext cx="3206799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Employs Java's </a:t>
            </a:r>
            <a:r>
              <a:rPr sz="1400" b="0" i="0" u="none" dirty="0" err="1">
                <a:solidFill>
                  <a:srgbClr val="CBD5E1"/>
                </a:solidFill>
                <a:latin typeface="Plus Jakarta Sans"/>
              </a:rPr>
              <a:t>equalsIgnoreCase</a:t>
            </a: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() method to standardize string comparison, preventing runtime mismatched evaluations caused by user input casing variations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752729" y="2617240"/>
            <a:ext cx="1814664" cy="21544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l"/>
            <a:r>
              <a:rPr sz="1400" b="1" i="0" u="none" dirty="0">
                <a:solidFill>
                  <a:srgbClr val="FFFFFF"/>
                </a:solidFill>
                <a:latin typeface="Plus Jakarta Sans"/>
              </a:rPr>
              <a:t>Boolean Logic Operators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94651" y="3326143"/>
            <a:ext cx="3216324" cy="8207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400" b="0" i="0" u="none" dirty="0">
                <a:solidFill>
                  <a:srgbClr val="CBD5E1"/>
                </a:solidFill>
                <a:latin typeface="Plus Jakarta Sans"/>
              </a:rPr>
              <a:t>Applies logical AND (&amp;&amp;) and OR (||) operators to model complex biological compatibility rules between distinct ABO and Rh blood groups</a:t>
            </a:r>
            <a:r>
              <a:rPr sz="1050" b="0" i="0" u="none" dirty="0">
                <a:solidFill>
                  <a:srgbClr val="CBD5E1"/>
                </a:solidFill>
                <a:latin typeface="Plus Jakarta Sans"/>
              </a:rPr>
              <a:t>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flip dir="r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90F2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3357562" y="4181475"/>
            <a:ext cx="5476875" cy="733425"/>
          </a:xfrm>
          <a:prstGeom prst="roundRect">
            <a:avLst>
              <a:gd name="adj" fmla="val 15584"/>
            </a:avLst>
          </a:prstGeom>
          <a:solidFill>
            <a:srgbClr val="151B2C"/>
          </a:solidFill>
          <a:ln w="9525">
            <a:solidFill>
              <a:srgbClr val="2E334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6596062" y="4381500"/>
            <a:ext cx="9525" cy="333375"/>
          </a:xfrm>
          <a:prstGeom prst="rect">
            <a:avLst/>
          </a:prstGeom>
          <a:solidFill>
            <a:srgbClr val="FFFFFF">
              <a:alpha val="2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91200" y="1943100"/>
            <a:ext cx="609600" cy="6096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370784" y="2705100"/>
            <a:ext cx="3450431" cy="6286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3900" b="1" i="0" u="none">
                <a:solidFill>
                  <a:srgbClr val="FFFFFF"/>
                </a:solidFill>
                <a:latin typeface="Plus Jakarta Sans"/>
              </a:rPr>
              <a:t>Thank You!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452937" y="3448050"/>
            <a:ext cx="3286125" cy="23812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0" i="0" u="none">
                <a:solidFill>
                  <a:srgbClr val="CBD5E1"/>
                </a:solidFill>
                <a:latin typeface="Plus Jakarta Sans"/>
              </a:rPr>
              <a:t>Questions &amp; Discussion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748087" y="4381500"/>
            <a:ext cx="3178968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7171"/>
                </a:solidFill>
                <a:latin typeface="Plus Jakarta Sans"/>
              </a:rPr>
              <a:t>STUDENT PRESENTERS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748087" y="4543425"/>
            <a:ext cx="3178968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S. Venkata Sai Pranav &amp; D. Sushas Varma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910387" y="4381500"/>
            <a:ext cx="1916906" cy="1428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900" b="1" i="0" u="none">
                <a:solidFill>
                  <a:srgbClr val="F87171"/>
                </a:solidFill>
                <a:latin typeface="Plus Jakarta Sans"/>
              </a:rPr>
              <a:t>FACULTY GUIDE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10387" y="4543425"/>
            <a:ext cx="1916906" cy="1714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50" b="1" i="0" u="none">
                <a:solidFill>
                  <a:srgbClr val="FFFFFF"/>
                </a:solidFill>
                <a:latin typeface="Plus Jakarta Sans"/>
              </a:rPr>
              <a:t>Dr. Gopikrishna Vellaturi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</TotalTime>
  <Words>1628</Words>
  <Application>Microsoft Office PowerPoint</Application>
  <PresentationFormat>Widescreen</PresentationFormat>
  <Paragraphs>228</Paragraphs>
  <Slides>14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1" baseType="lpstr">
      <vt:lpstr>monospace</vt:lpstr>
      <vt:lpstr>Aptos</vt:lpstr>
      <vt:lpstr>Arial</vt:lpstr>
      <vt:lpstr>Fira Code</vt:lpstr>
      <vt:lpstr>Calibri</vt:lpstr>
      <vt:lpstr>Plus Jakarta Sans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pranav s</cp:lastModifiedBy>
  <cp:revision>2</cp:revision>
  <dcterms:created xsi:type="dcterms:W3CDTF">2013-01-27T09:14:16Z</dcterms:created>
  <dcterms:modified xsi:type="dcterms:W3CDTF">2026-09-30T10:22:36Z</dcterms:modified>
  <cp:category/>
</cp:coreProperties>
</file>